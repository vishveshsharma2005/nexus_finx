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4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30"/>
        <p:guide pos="28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2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svg"/><Relationship Id="rId4" Type="http://schemas.openxmlformats.org/officeDocument/2006/relationships/image" Target="../media/image2.jpe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svg"/><Relationship Id="rId8" Type="http://schemas.openxmlformats.org/officeDocument/2006/relationships/image" Target="../media/image9.pn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3.svg"/><Relationship Id="rId12" Type="http://schemas.openxmlformats.org/officeDocument/2006/relationships/image" Target="../media/image18.svg"/><Relationship Id="rId13" Type="http://schemas.openxmlformats.org/officeDocument/2006/relationships/image" Target="../media/image19.svg"/><Relationship Id="rId14" Type="http://schemas.openxmlformats.org/officeDocument/2006/relationships/image" Target="../media/image2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18.svg"/><Relationship Id="rId8" Type="http://schemas.openxmlformats.org/officeDocument/2006/relationships/image" Target="../media/image17.svg"/><Relationship Id="rId9" Type="http://schemas.openxmlformats.org/officeDocument/2006/relationships/image" Target="../media/image6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image" Target="../media/image26.png"/><Relationship Id="rId13" Type="http://schemas.openxmlformats.org/officeDocument/2006/relationships/image" Target="../media/image27.svg"/><Relationship Id="rId14" Type="http://schemas.openxmlformats.org/officeDocument/2006/relationships/image" Target="../media/image13.png"/><Relationship Id="rId15" Type="http://schemas.openxmlformats.org/officeDocument/2006/relationships/image" Target="../media/image20.svg"/><Relationship Id="rId16" Type="http://schemas.openxmlformats.org/officeDocument/2006/relationships/image" Target="../media/image28.svg"/><Relationship Id="rId17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svg"/><Relationship Id="rId4" Type="http://schemas.openxmlformats.org/officeDocument/2006/relationships/image" Target="../media/image2.jpeg"/><Relationship Id="rId5" Type="http://schemas.openxmlformats.org/officeDocument/2006/relationships/image" Target="../media/image31.jpeg"/><Relationship Id="rId6" Type="http://schemas.openxmlformats.org/officeDocument/2006/relationships/image" Target="../media/image32.svg"/><Relationship Id="rId7" Type="http://schemas.openxmlformats.org/officeDocument/2006/relationships/image" Target="../media/image33.svg"/><Relationship Id="rId8" Type="http://schemas.openxmlformats.org/officeDocument/2006/relationships/image" Target="../media/image34.svg"/><Relationship Id="rId9" Type="http://schemas.openxmlformats.org/officeDocument/2006/relationships/image" Target="../media/image35.sv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1138133"/>
            <a:ext cx="9148867" cy="9148867"/>
          </a:xfrm>
          <a:custGeom>
            <a:avLst/>
            <a:gdLst/>
            <a:ahLst/>
            <a:cxnLst/>
            <a:rect l="l" t="t" r="r" b="b"/>
            <a:pathLst>
              <a:path w="9148867" h="9148867">
                <a:moveTo>
                  <a:pt x="0" y="0"/>
                </a:moveTo>
                <a:lnTo>
                  <a:pt x="9148868" y="0"/>
                </a:lnTo>
                <a:lnTo>
                  <a:pt x="9148868" y="9148867"/>
                </a:lnTo>
                <a:lnTo>
                  <a:pt x="0" y="9148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AutoShape 3"/>
          <p:cNvSpPr/>
          <p:nvPr/>
        </p:nvSpPr>
        <p:spPr>
          <a:xfrm>
            <a:off x="9464787" y="5829828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4" name="Group 4"/>
          <p:cNvGrpSpPr/>
          <p:nvPr/>
        </p:nvGrpSpPr>
        <p:grpSpPr>
          <a:xfrm>
            <a:off x="9464859" y="617220"/>
            <a:ext cx="8229600" cy="4937760"/>
            <a:chOff x="0" y="0"/>
            <a:chExt cx="10972800" cy="6583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583680"/>
            </a:xfrm>
            <a:custGeom>
              <a:avLst/>
              <a:gdLst/>
              <a:ahLst/>
              <a:cxnLst/>
              <a:rect l="l" t="t" r="r" b="b"/>
              <a:pathLst>
                <a:path w="10972800" h="658368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0972800" cy="655510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8640"/>
                </a:lnSpc>
              </a:pPr>
              <a:r>
                <a:rPr lang="en-US" sz="9000" b="1" spc="15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FinX – Loan Agreement Intelligence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464787" y="6048903"/>
            <a:ext cx="670076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Nexus Hackathon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2625" y="62230"/>
            <a:ext cx="6175375" cy="3686810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13606" y="2603932"/>
            <a:ext cx="3351695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13606" y="-638800"/>
            <a:ext cx="10181625" cy="2390261"/>
            <a:chOff x="0" y="0"/>
            <a:chExt cx="13575500" cy="3187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75494" cy="3187014"/>
            </a:xfrm>
            <a:custGeom>
              <a:avLst/>
              <a:gdLst/>
              <a:ahLst/>
              <a:cxnLst/>
              <a:rect l="l" t="t" r="r" b="b"/>
              <a:pathLst>
                <a:path w="13575494" h="3187014">
                  <a:moveTo>
                    <a:pt x="0" y="0"/>
                  </a:moveTo>
                  <a:lnTo>
                    <a:pt x="13575494" y="0"/>
                  </a:lnTo>
                  <a:lnTo>
                    <a:pt x="13575494" y="3187014"/>
                  </a:lnTo>
                  <a:lnTo>
                    <a:pt x="0" y="31870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999" b="-3299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3575500" cy="31679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5"/>
                </a:lnSpc>
              </a:pPr>
              <a:r>
                <a:rPr lang="en-US" sz="6600" b="1" spc="74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The Problem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074549" y="4851557"/>
            <a:ext cx="7870378" cy="4283233"/>
          </a:xfrm>
          <a:custGeom>
            <a:avLst/>
            <a:gdLst/>
            <a:ahLst/>
            <a:cxnLst/>
            <a:rect l="l" t="t" r="r" b="b"/>
            <a:pathLst>
              <a:path w="7870378" h="4283233">
                <a:moveTo>
                  <a:pt x="0" y="0"/>
                </a:moveTo>
                <a:lnTo>
                  <a:pt x="7870378" y="0"/>
                </a:lnTo>
                <a:lnTo>
                  <a:pt x="7870378" y="4283233"/>
                </a:lnTo>
                <a:lnTo>
                  <a:pt x="0" y="4283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8023" b="-2802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3606" y="2884328"/>
            <a:ext cx="12757739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7CA655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 loan agreement contain everything the borrower needs to know – but the important details are spread across pages of legal and financial language.</a:t>
            </a:r>
          </a:p>
          <a:p>
            <a:pPr algn="l">
              <a:lnSpc>
                <a:spcPts val="3920"/>
              </a:lnSpc>
            </a:pPr>
            <a:endParaRPr lang="en-US" sz="2800" dirty="0">
              <a:solidFill>
                <a:srgbClr val="7CA655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91006" y="4735830"/>
            <a:ext cx="7411477" cy="4283233"/>
          </a:xfrm>
          <a:custGeom>
            <a:avLst/>
            <a:gdLst/>
            <a:ahLst/>
            <a:cxnLst/>
            <a:rect l="l" t="t" r="r" b="b"/>
            <a:pathLst>
              <a:path w="7411477" h="4283233">
                <a:moveTo>
                  <a:pt x="0" y="0"/>
                </a:moveTo>
                <a:lnTo>
                  <a:pt x="7411477" y="0"/>
                </a:lnTo>
                <a:lnTo>
                  <a:pt x="7411477" y="4283233"/>
                </a:lnTo>
                <a:lnTo>
                  <a:pt x="0" y="4283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4192" r="-4078" b="-1874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3606" y="5895886"/>
            <a:ext cx="671875" cy="845126"/>
          </a:xfrm>
          <a:custGeom>
            <a:avLst/>
            <a:gdLst/>
            <a:ahLst/>
            <a:cxnLst/>
            <a:rect l="l" t="t" r="r" b="b"/>
            <a:pathLst>
              <a:path w="671875" h="845126">
                <a:moveTo>
                  <a:pt x="0" y="0"/>
                </a:moveTo>
                <a:lnTo>
                  <a:pt x="671876" y="0"/>
                </a:lnTo>
                <a:lnTo>
                  <a:pt x="671876" y="845126"/>
                </a:lnTo>
                <a:lnTo>
                  <a:pt x="0" y="84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5804" y="7058284"/>
            <a:ext cx="709677" cy="709677"/>
          </a:xfrm>
          <a:custGeom>
            <a:avLst/>
            <a:gdLst/>
            <a:ahLst/>
            <a:cxnLst/>
            <a:rect l="l" t="t" r="r" b="b"/>
            <a:pathLst>
              <a:path w="709677" h="709677">
                <a:moveTo>
                  <a:pt x="0" y="0"/>
                </a:moveTo>
                <a:lnTo>
                  <a:pt x="709678" y="0"/>
                </a:lnTo>
                <a:lnTo>
                  <a:pt x="709678" y="709678"/>
                </a:lnTo>
                <a:lnTo>
                  <a:pt x="0" y="709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3325" y="8015612"/>
            <a:ext cx="792439" cy="843020"/>
          </a:xfrm>
          <a:custGeom>
            <a:avLst/>
            <a:gdLst/>
            <a:ahLst/>
            <a:cxnLst/>
            <a:rect l="l" t="t" r="r" b="b"/>
            <a:pathLst>
              <a:path w="792439" h="843020">
                <a:moveTo>
                  <a:pt x="0" y="0"/>
                </a:moveTo>
                <a:lnTo>
                  <a:pt x="792438" y="0"/>
                </a:lnTo>
                <a:lnTo>
                  <a:pt x="792438" y="843020"/>
                </a:lnTo>
                <a:lnTo>
                  <a:pt x="0" y="843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323347" y="5860414"/>
            <a:ext cx="671875" cy="845126"/>
          </a:xfrm>
          <a:custGeom>
            <a:avLst/>
            <a:gdLst/>
            <a:ahLst/>
            <a:cxnLst/>
            <a:rect l="l" t="t" r="r" b="b"/>
            <a:pathLst>
              <a:path w="671875" h="845126">
                <a:moveTo>
                  <a:pt x="0" y="0"/>
                </a:moveTo>
                <a:lnTo>
                  <a:pt x="671875" y="0"/>
                </a:lnTo>
                <a:lnTo>
                  <a:pt x="671875" y="845126"/>
                </a:lnTo>
                <a:lnTo>
                  <a:pt x="0" y="84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59528" y="7045201"/>
            <a:ext cx="830760" cy="722761"/>
          </a:xfrm>
          <a:custGeom>
            <a:avLst/>
            <a:gdLst/>
            <a:ahLst/>
            <a:cxnLst/>
            <a:rect l="l" t="t" r="r" b="b"/>
            <a:pathLst>
              <a:path w="830760" h="722761">
                <a:moveTo>
                  <a:pt x="0" y="0"/>
                </a:moveTo>
                <a:lnTo>
                  <a:pt x="830760" y="0"/>
                </a:lnTo>
                <a:lnTo>
                  <a:pt x="830760" y="722761"/>
                </a:lnTo>
                <a:lnTo>
                  <a:pt x="0" y="7227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50735" y="8049626"/>
            <a:ext cx="848346" cy="848346"/>
          </a:xfrm>
          <a:custGeom>
            <a:avLst/>
            <a:gdLst/>
            <a:ahLst/>
            <a:cxnLst/>
            <a:rect l="l" t="t" r="r" b="b"/>
            <a:pathLst>
              <a:path w="848346" h="848346">
                <a:moveTo>
                  <a:pt x="0" y="0"/>
                </a:moveTo>
                <a:lnTo>
                  <a:pt x="848346" y="0"/>
                </a:lnTo>
                <a:lnTo>
                  <a:pt x="848346" y="848346"/>
                </a:lnTo>
                <a:lnTo>
                  <a:pt x="0" y="84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79918" y="5299151"/>
            <a:ext cx="1985283" cy="2716461"/>
          </a:xfrm>
          <a:custGeom>
            <a:avLst/>
            <a:gdLst/>
            <a:ahLst/>
            <a:cxnLst/>
            <a:rect l="l" t="t" r="r" b="b"/>
            <a:pathLst>
              <a:path w="1985283" h="2716461">
                <a:moveTo>
                  <a:pt x="0" y="0"/>
                </a:moveTo>
                <a:lnTo>
                  <a:pt x="1985283" y="0"/>
                </a:lnTo>
                <a:lnTo>
                  <a:pt x="1985283" y="2716461"/>
                </a:lnTo>
                <a:lnTo>
                  <a:pt x="0" y="27164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576" r="-657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13606" y="1760986"/>
            <a:ext cx="10181615" cy="88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600" b="1">
                <a:solidFill>
                  <a:srgbClr val="5D7D40"/>
                </a:solidFill>
                <a:latin typeface="ITC Franklin Gothic LT Semi-Bold" panose="020B0704030502020204"/>
                <a:ea typeface="ITC Franklin Gothic LT Semi-Bold" panose="020B0704030502020204"/>
                <a:cs typeface="ITC Franklin Gothic LT Semi-Bold" panose="020B0704030502020204"/>
                <a:sym typeface="ITC Franklin Gothic LT Semi-Bold" panose="020B0704030502020204"/>
              </a:rPr>
              <a:t>Borrowers See the Loan, Not the Risk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435" y="4678680"/>
            <a:ext cx="3582035" cy="48450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 b="1" u="sng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What borrower see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5804" y="5261617"/>
            <a:ext cx="4862996" cy="38395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18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The key numbers look simple.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47628" y="6004441"/>
            <a:ext cx="3291840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Loan Amount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5742" y="6040954"/>
            <a:ext cx="244607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35,00,000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4330" y="7135495"/>
            <a:ext cx="2949575" cy="520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Interest Rate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81836" y="7018386"/>
            <a:ext cx="244607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8.35%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41170" y="8159750"/>
            <a:ext cx="3044825" cy="5270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Monthly EMI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1836" y="7992476"/>
            <a:ext cx="244607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30,152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53832" y="4881907"/>
            <a:ext cx="6175375" cy="45486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u="sng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What gets Overlooked?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23347" y="5385435"/>
            <a:ext cx="6460852" cy="389254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18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Important details are buried in the fine print.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31976" y="5875275"/>
            <a:ext cx="7140253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Hidden Charges - </a:t>
            </a: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Processing , legal, insurance and other fees.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74773" y="7037436"/>
            <a:ext cx="6770154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Penalty Clauses - </a:t>
            </a: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What a missed EMI can actually cost.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74773" y="7992476"/>
            <a:ext cx="6393996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Rate Changes - </a:t>
            </a: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How floating rates can affect repayment.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9612" y="1865006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21590" y="7372985"/>
            <a:ext cx="3721735" cy="284353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1" y="0"/>
                </a:lnTo>
                <a:lnTo>
                  <a:pt x="4438841" y="4438841"/>
                </a:lnTo>
                <a:lnTo>
                  <a:pt x="0" y="4438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79612" y="-693399"/>
            <a:ext cx="16310610" cy="2520305"/>
            <a:chOff x="0" y="0"/>
            <a:chExt cx="21747480" cy="33604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47480" cy="3360410"/>
            </a:xfrm>
            <a:custGeom>
              <a:avLst/>
              <a:gdLst/>
              <a:ahLst/>
              <a:cxnLst/>
              <a:rect l="l" t="t" r="r" b="b"/>
              <a:pathLst>
                <a:path w="21747480" h="3360410">
                  <a:moveTo>
                    <a:pt x="0" y="0"/>
                  </a:moveTo>
                  <a:lnTo>
                    <a:pt x="21747480" y="0"/>
                  </a:lnTo>
                  <a:lnTo>
                    <a:pt x="21747480" y="3360410"/>
                  </a:lnTo>
                  <a:lnTo>
                    <a:pt x="0" y="33604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100" b="-761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1747480" cy="334135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5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Research &amp; Existing Gap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00186" y="8630291"/>
            <a:ext cx="16687628" cy="1445922"/>
          </a:xfrm>
          <a:custGeom>
            <a:avLst/>
            <a:gdLst/>
            <a:ahLst/>
            <a:cxnLst/>
            <a:rect l="l" t="t" r="r" b="b"/>
            <a:pathLst>
              <a:path w="16687628" h="1445922">
                <a:moveTo>
                  <a:pt x="0" y="0"/>
                </a:moveTo>
                <a:lnTo>
                  <a:pt x="16687628" y="0"/>
                </a:lnTo>
                <a:lnTo>
                  <a:pt x="16687628" y="1445922"/>
                </a:lnTo>
                <a:lnTo>
                  <a:pt x="0" y="1445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5132" b="-9439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0186" y="2123166"/>
            <a:ext cx="6744415" cy="2918492"/>
          </a:xfrm>
          <a:custGeom>
            <a:avLst/>
            <a:gdLst/>
            <a:ahLst/>
            <a:cxnLst/>
            <a:rect l="l" t="t" r="r" b="b"/>
            <a:pathLst>
              <a:path w="6744415" h="2918492">
                <a:moveTo>
                  <a:pt x="0" y="0"/>
                </a:moveTo>
                <a:lnTo>
                  <a:pt x="6744415" y="0"/>
                </a:lnTo>
                <a:lnTo>
                  <a:pt x="6744415" y="2918493"/>
                </a:lnTo>
                <a:lnTo>
                  <a:pt x="0" y="29184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63893" y="2056308"/>
            <a:ext cx="1129615" cy="1403248"/>
          </a:xfrm>
          <a:custGeom>
            <a:avLst/>
            <a:gdLst/>
            <a:ahLst/>
            <a:cxnLst/>
            <a:rect l="l" t="t" r="r" b="b"/>
            <a:pathLst>
              <a:path w="1129615" h="1403248">
                <a:moveTo>
                  <a:pt x="0" y="0"/>
                </a:moveTo>
                <a:lnTo>
                  <a:pt x="1129614" y="0"/>
                </a:lnTo>
                <a:lnTo>
                  <a:pt x="1129614" y="1403248"/>
                </a:lnTo>
                <a:lnTo>
                  <a:pt x="0" y="1403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94117" y="2225008"/>
            <a:ext cx="6744415" cy="2918492"/>
          </a:xfrm>
          <a:custGeom>
            <a:avLst/>
            <a:gdLst/>
            <a:ahLst/>
            <a:cxnLst/>
            <a:rect l="l" t="t" r="r" b="b"/>
            <a:pathLst>
              <a:path w="6744415" h="2918492">
                <a:moveTo>
                  <a:pt x="0" y="0"/>
                </a:moveTo>
                <a:lnTo>
                  <a:pt x="6744415" y="0"/>
                </a:lnTo>
                <a:lnTo>
                  <a:pt x="6744415" y="2918492"/>
                </a:lnTo>
                <a:lnTo>
                  <a:pt x="0" y="2918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2023391"/>
            <a:ext cx="1016007" cy="883926"/>
          </a:xfrm>
          <a:custGeom>
            <a:avLst/>
            <a:gdLst/>
            <a:ahLst/>
            <a:cxnLst/>
            <a:rect l="l" t="t" r="r" b="b"/>
            <a:pathLst>
              <a:path w="1016007" h="883926">
                <a:moveTo>
                  <a:pt x="0" y="0"/>
                </a:moveTo>
                <a:lnTo>
                  <a:pt x="1016007" y="0"/>
                </a:lnTo>
                <a:lnTo>
                  <a:pt x="1016007" y="883927"/>
                </a:lnTo>
                <a:lnTo>
                  <a:pt x="0" y="8839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0186" y="5294848"/>
            <a:ext cx="6744415" cy="2918492"/>
          </a:xfrm>
          <a:custGeom>
            <a:avLst/>
            <a:gdLst/>
            <a:ahLst/>
            <a:cxnLst/>
            <a:rect l="l" t="t" r="r" b="b"/>
            <a:pathLst>
              <a:path w="6744415" h="2918492">
                <a:moveTo>
                  <a:pt x="0" y="0"/>
                </a:moveTo>
                <a:lnTo>
                  <a:pt x="6744415" y="0"/>
                </a:lnTo>
                <a:lnTo>
                  <a:pt x="6744415" y="2918492"/>
                </a:lnTo>
                <a:lnTo>
                  <a:pt x="0" y="2918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494117" y="5426049"/>
            <a:ext cx="6744415" cy="2918492"/>
          </a:xfrm>
          <a:custGeom>
            <a:avLst/>
            <a:gdLst/>
            <a:ahLst/>
            <a:cxnLst/>
            <a:rect l="l" t="t" r="r" b="b"/>
            <a:pathLst>
              <a:path w="6744415" h="2918492">
                <a:moveTo>
                  <a:pt x="0" y="0"/>
                </a:moveTo>
                <a:lnTo>
                  <a:pt x="6744415" y="0"/>
                </a:lnTo>
                <a:lnTo>
                  <a:pt x="6744415" y="2918492"/>
                </a:lnTo>
                <a:lnTo>
                  <a:pt x="0" y="2918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0343" y="5041659"/>
            <a:ext cx="1150327" cy="1204531"/>
          </a:xfrm>
          <a:custGeom>
            <a:avLst/>
            <a:gdLst/>
            <a:ahLst/>
            <a:cxnLst/>
            <a:rect l="l" t="t" r="r" b="b"/>
            <a:pathLst>
              <a:path w="1150327" h="1204531">
                <a:moveTo>
                  <a:pt x="0" y="0"/>
                </a:moveTo>
                <a:lnTo>
                  <a:pt x="1150326" y="0"/>
                </a:lnTo>
                <a:lnTo>
                  <a:pt x="1150326" y="1204530"/>
                </a:lnTo>
                <a:lnTo>
                  <a:pt x="0" y="1204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260249" y="5343525"/>
            <a:ext cx="783509" cy="1010980"/>
          </a:xfrm>
          <a:custGeom>
            <a:avLst/>
            <a:gdLst/>
            <a:ahLst/>
            <a:cxnLst/>
            <a:rect l="l" t="t" r="r" b="b"/>
            <a:pathLst>
              <a:path w="783509" h="1010980">
                <a:moveTo>
                  <a:pt x="0" y="0"/>
                </a:moveTo>
                <a:lnTo>
                  <a:pt x="783509" y="0"/>
                </a:lnTo>
                <a:lnTo>
                  <a:pt x="783509" y="1010980"/>
                </a:lnTo>
                <a:lnTo>
                  <a:pt x="0" y="1010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487400" y="118745"/>
            <a:ext cx="4838065" cy="2078355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7"/>
                </a:lnTo>
                <a:lnTo>
                  <a:pt x="0" y="4853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43766" y="8917543"/>
            <a:ext cx="721878" cy="943631"/>
          </a:xfrm>
          <a:custGeom>
            <a:avLst/>
            <a:gdLst/>
            <a:ahLst/>
            <a:cxnLst/>
            <a:rect l="l" t="t" r="r" b="b"/>
            <a:pathLst>
              <a:path w="721878" h="943631">
                <a:moveTo>
                  <a:pt x="0" y="0"/>
                </a:moveTo>
                <a:lnTo>
                  <a:pt x="721878" y="0"/>
                </a:lnTo>
                <a:lnTo>
                  <a:pt x="721878" y="943632"/>
                </a:lnTo>
                <a:lnTo>
                  <a:pt x="0" y="94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117952" y="9032563"/>
            <a:ext cx="710170" cy="681763"/>
          </a:xfrm>
          <a:custGeom>
            <a:avLst/>
            <a:gdLst/>
            <a:ahLst/>
            <a:cxnLst/>
            <a:rect l="l" t="t" r="r" b="b"/>
            <a:pathLst>
              <a:path w="710170" h="681763">
                <a:moveTo>
                  <a:pt x="0" y="0"/>
                </a:moveTo>
                <a:lnTo>
                  <a:pt x="710170" y="0"/>
                </a:lnTo>
                <a:lnTo>
                  <a:pt x="710170" y="681763"/>
                </a:lnTo>
                <a:lnTo>
                  <a:pt x="0" y="681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>
            <a:off x="5539215" y="9444809"/>
            <a:ext cx="1905269" cy="295317"/>
          </a:xfrm>
          <a:custGeom>
            <a:avLst/>
            <a:gdLst/>
            <a:ahLst/>
            <a:cxnLst/>
            <a:rect l="l" t="t" r="r" b="b"/>
            <a:pathLst>
              <a:path w="1905269" h="295317">
                <a:moveTo>
                  <a:pt x="0" y="0"/>
                </a:moveTo>
                <a:lnTo>
                  <a:pt x="1905269" y="0"/>
                </a:lnTo>
                <a:lnTo>
                  <a:pt x="1905269" y="295317"/>
                </a:lnTo>
                <a:lnTo>
                  <a:pt x="0" y="295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80669" y="3223590"/>
            <a:ext cx="6234760" cy="147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805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Processing, legal, technical, CERSAI, MODT and insurance can be scattered across the agreement.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0490" y="2118995"/>
            <a:ext cx="1645285" cy="4362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u="sng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COST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3798" y="2700782"/>
            <a:ext cx="4820393" cy="49032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Fees add up in silence.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17729" y="3223590"/>
            <a:ext cx="6020804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Borrowers rarely know what a missed instalment actually triggers.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39340" y="2774645"/>
            <a:ext cx="6241471" cy="49783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5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One missed EMI, unclear math.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17785" y="2219960"/>
            <a:ext cx="2246630" cy="5245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u="sng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PENALTY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52233" y="6439291"/>
            <a:ext cx="6020804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 rate reset can change the repayment burden without being obvious month to month.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2233" y="5870015"/>
            <a:ext cx="6163196" cy="497839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Floating rates move the goalposts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56385" y="5260975"/>
            <a:ext cx="1351280" cy="5511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u="sng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60007" y="6686801"/>
            <a:ext cx="6020804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Prepayment and foreclosure condition can be difficult to identify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14810" y="6082820"/>
            <a:ext cx="6618038" cy="49783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Lock-ins buried in the fine print.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36200" y="5501005"/>
            <a:ext cx="1174750" cy="5359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u="sng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EXIT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82825" y="8851265"/>
            <a:ext cx="3583305" cy="467995"/>
          </a:xfrm>
          <a:prstGeom prst="rect">
            <a:avLst/>
          </a:prstGeom>
        </p:spPr>
        <p:txBody>
          <a:bodyPr lIns="0" tIns="0" rIns="0" bIns="0" rtlCol="0" anchor="t" wrap="none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28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EMI Calculator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06562" y="9417934"/>
            <a:ext cx="3659186" cy="497840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5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Does the arithmetic.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20000" y="8735060"/>
            <a:ext cx="3802380" cy="624205"/>
          </a:xfrm>
          <a:prstGeom prst="rect">
            <a:avLst/>
          </a:prstGeom>
        </p:spPr>
        <p:txBody>
          <a:bodyPr lIns="0" tIns="0" rIns="0" bIns="0" rtlCol="0" anchor="t" wrap="none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28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Rate Aggregator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36360" y="9319509"/>
            <a:ext cx="3659186" cy="497840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5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Ranks headlines.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63372" y="8735066"/>
            <a:ext cx="5291425" cy="109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600" b="1" dirty="0">
                <a:solidFill>
                  <a:srgbClr val="5D7D4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Neither has actually opened your document.</a:t>
            </a:r>
          </a:p>
        </p:txBody>
      </p:sp>
      <p:sp>
        <p:nvSpPr>
          <p:cNvPr id="37" name="Freeform 37"/>
          <p:cNvSpPr/>
          <p:nvPr/>
        </p:nvSpPr>
        <p:spPr>
          <a:xfrm rot="5400000">
            <a:off x="10897885" y="9435267"/>
            <a:ext cx="1905269" cy="295317"/>
          </a:xfrm>
          <a:custGeom>
            <a:avLst/>
            <a:gdLst/>
            <a:ahLst/>
            <a:cxnLst/>
            <a:rect l="l" t="t" r="r" b="b"/>
            <a:pathLst>
              <a:path w="1905269" h="295317">
                <a:moveTo>
                  <a:pt x="0" y="0"/>
                </a:moveTo>
                <a:lnTo>
                  <a:pt x="1905269" y="0"/>
                </a:lnTo>
                <a:lnTo>
                  <a:pt x="1905269" y="295317"/>
                </a:lnTo>
                <a:lnTo>
                  <a:pt x="0" y="295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815343" y="1428840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15343" y="-851150"/>
            <a:ext cx="14667548" cy="2241890"/>
            <a:chOff x="0" y="0"/>
            <a:chExt cx="19556730" cy="29891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2"/>
            </a:xfrm>
            <a:custGeom>
              <a:avLst/>
              <a:gdLst/>
              <a:ahLst/>
              <a:cxnLst/>
              <a:rect l="l" t="t" r="r" b="b"/>
              <a:pathLst>
                <a:path w="19556730" h="2989192">
                  <a:moveTo>
                    <a:pt x="0" y="0"/>
                  </a:moveTo>
                  <a:lnTo>
                    <a:pt x="19556730" y="0"/>
                  </a:lnTo>
                  <a:lnTo>
                    <a:pt x="19556730" y="2989192"/>
                  </a:lnTo>
                  <a:lnTo>
                    <a:pt x="0" y="298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3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5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Our Solution- FinX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-146284" y="1754953"/>
            <a:ext cx="3864407" cy="3573322"/>
          </a:xfrm>
          <a:custGeom>
            <a:avLst/>
            <a:gdLst/>
            <a:ahLst/>
            <a:cxnLst/>
            <a:rect l="l" t="t" r="r" b="b"/>
            <a:pathLst>
              <a:path w="3864407" h="3573322">
                <a:moveTo>
                  <a:pt x="0" y="0"/>
                </a:moveTo>
                <a:lnTo>
                  <a:pt x="3864407" y="0"/>
                </a:lnTo>
                <a:lnTo>
                  <a:pt x="3864407" y="3573322"/>
                </a:lnTo>
                <a:lnTo>
                  <a:pt x="0" y="3573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64898" y="1696310"/>
            <a:ext cx="6968437" cy="3791449"/>
          </a:xfrm>
          <a:custGeom>
            <a:avLst/>
            <a:gdLst/>
            <a:ahLst/>
            <a:cxnLst/>
            <a:rect l="l" t="t" r="r" b="b"/>
            <a:pathLst>
              <a:path w="6968437" h="3791449">
                <a:moveTo>
                  <a:pt x="0" y="0"/>
                </a:moveTo>
                <a:lnTo>
                  <a:pt x="6968438" y="0"/>
                </a:lnTo>
                <a:lnTo>
                  <a:pt x="6968438" y="3791449"/>
                </a:lnTo>
                <a:lnTo>
                  <a:pt x="0" y="3791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9394" r="-4040" b="-2299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83685" y="3095221"/>
            <a:ext cx="1355221" cy="1404374"/>
          </a:xfrm>
          <a:custGeom>
            <a:avLst/>
            <a:gdLst/>
            <a:ahLst/>
            <a:cxnLst/>
            <a:rect l="l" t="t" r="r" b="b"/>
            <a:pathLst>
              <a:path w="1355221" h="1404374">
                <a:moveTo>
                  <a:pt x="0" y="0"/>
                </a:moveTo>
                <a:lnTo>
                  <a:pt x="1355221" y="0"/>
                </a:lnTo>
                <a:lnTo>
                  <a:pt x="1355221" y="1404374"/>
                </a:lnTo>
                <a:lnTo>
                  <a:pt x="0" y="1404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50106" y="4465290"/>
            <a:ext cx="518831" cy="678210"/>
          </a:xfrm>
          <a:custGeom>
            <a:avLst/>
            <a:gdLst/>
            <a:ahLst/>
            <a:cxnLst/>
            <a:rect l="l" t="t" r="r" b="b"/>
            <a:pathLst>
              <a:path w="518831" h="678210">
                <a:moveTo>
                  <a:pt x="0" y="0"/>
                </a:moveTo>
                <a:lnTo>
                  <a:pt x="518830" y="0"/>
                </a:lnTo>
                <a:lnTo>
                  <a:pt x="518830" y="678210"/>
                </a:lnTo>
                <a:lnTo>
                  <a:pt x="0" y="6782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69061" y="1963377"/>
            <a:ext cx="654084" cy="843980"/>
          </a:xfrm>
          <a:custGeom>
            <a:avLst/>
            <a:gdLst/>
            <a:ahLst/>
            <a:cxnLst/>
            <a:rect l="l" t="t" r="r" b="b"/>
            <a:pathLst>
              <a:path w="654084" h="843980">
                <a:moveTo>
                  <a:pt x="0" y="0"/>
                </a:moveTo>
                <a:lnTo>
                  <a:pt x="654084" y="0"/>
                </a:lnTo>
                <a:lnTo>
                  <a:pt x="654084" y="843980"/>
                </a:lnTo>
                <a:lnTo>
                  <a:pt x="0" y="84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05310" y="4556154"/>
            <a:ext cx="581586" cy="731555"/>
          </a:xfrm>
          <a:custGeom>
            <a:avLst/>
            <a:gdLst/>
            <a:ahLst/>
            <a:cxnLst/>
            <a:rect l="l" t="t" r="r" b="b"/>
            <a:pathLst>
              <a:path w="581586" h="731555">
                <a:moveTo>
                  <a:pt x="0" y="0"/>
                </a:moveTo>
                <a:lnTo>
                  <a:pt x="581586" y="0"/>
                </a:lnTo>
                <a:lnTo>
                  <a:pt x="581586" y="731555"/>
                </a:lnTo>
                <a:lnTo>
                  <a:pt x="0" y="7315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087765" y="1987609"/>
            <a:ext cx="762344" cy="613687"/>
          </a:xfrm>
          <a:custGeom>
            <a:avLst/>
            <a:gdLst/>
            <a:ahLst/>
            <a:cxnLst/>
            <a:rect l="l" t="t" r="r" b="b"/>
            <a:pathLst>
              <a:path w="762344" h="613687">
                <a:moveTo>
                  <a:pt x="0" y="0"/>
                </a:moveTo>
                <a:lnTo>
                  <a:pt x="762343" y="0"/>
                </a:lnTo>
                <a:lnTo>
                  <a:pt x="762343" y="613687"/>
                </a:lnTo>
                <a:lnTo>
                  <a:pt x="0" y="6136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8513977">
            <a:off x="6684845" y="3079772"/>
            <a:ext cx="1163547" cy="401424"/>
          </a:xfrm>
          <a:custGeom>
            <a:avLst/>
            <a:gdLst/>
            <a:ahLst/>
            <a:cxnLst/>
            <a:rect l="l" t="t" r="r" b="b"/>
            <a:pathLst>
              <a:path w="1163547" h="401424">
                <a:moveTo>
                  <a:pt x="0" y="0"/>
                </a:moveTo>
                <a:lnTo>
                  <a:pt x="1163547" y="0"/>
                </a:lnTo>
                <a:lnTo>
                  <a:pt x="1163547" y="401423"/>
                </a:lnTo>
                <a:lnTo>
                  <a:pt x="0" y="401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103389">
            <a:off x="9065837" y="3591309"/>
            <a:ext cx="806198" cy="863566"/>
          </a:xfrm>
          <a:custGeom>
            <a:avLst/>
            <a:gdLst/>
            <a:ahLst/>
            <a:cxnLst/>
            <a:rect l="l" t="t" r="r" b="b"/>
            <a:pathLst>
              <a:path w="806198" h="863566">
                <a:moveTo>
                  <a:pt x="0" y="0"/>
                </a:moveTo>
                <a:lnTo>
                  <a:pt x="806198" y="0"/>
                </a:lnTo>
                <a:lnTo>
                  <a:pt x="806198" y="863565"/>
                </a:lnTo>
                <a:lnTo>
                  <a:pt x="0" y="863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3562" r="-33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825193" y="2798730"/>
            <a:ext cx="637614" cy="592981"/>
          </a:xfrm>
          <a:custGeom>
            <a:avLst/>
            <a:gdLst/>
            <a:ahLst/>
            <a:cxnLst/>
            <a:rect l="l" t="t" r="r" b="b"/>
            <a:pathLst>
              <a:path w="637614" h="592981">
                <a:moveTo>
                  <a:pt x="0" y="0"/>
                </a:moveTo>
                <a:lnTo>
                  <a:pt x="637614" y="0"/>
                </a:lnTo>
                <a:lnTo>
                  <a:pt x="637614" y="592981"/>
                </a:lnTo>
                <a:lnTo>
                  <a:pt x="0" y="592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383744" y="4476607"/>
            <a:ext cx="2038400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Identifies key clauses</a:t>
            </a:r>
          </a:p>
        </p:txBody>
      </p:sp>
      <p:sp>
        <p:nvSpPr>
          <p:cNvPr id="18" name="Freeform 18"/>
          <p:cNvSpPr/>
          <p:nvPr/>
        </p:nvSpPr>
        <p:spPr>
          <a:xfrm rot="10607655">
            <a:off x="7194586" y="3997731"/>
            <a:ext cx="637614" cy="592981"/>
          </a:xfrm>
          <a:custGeom>
            <a:avLst/>
            <a:gdLst/>
            <a:ahLst/>
            <a:cxnLst/>
            <a:rect l="l" t="t" r="r" b="b"/>
            <a:pathLst>
              <a:path w="637614" h="592981">
                <a:moveTo>
                  <a:pt x="0" y="0"/>
                </a:moveTo>
                <a:lnTo>
                  <a:pt x="637614" y="0"/>
                </a:lnTo>
                <a:lnTo>
                  <a:pt x="637614" y="592981"/>
                </a:lnTo>
                <a:lnTo>
                  <a:pt x="0" y="592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8170545"/>
            <a:ext cx="18376900" cy="1445895"/>
          </a:xfrm>
          <a:custGeom>
            <a:avLst/>
            <a:gdLst/>
            <a:ahLst/>
            <a:cxnLst/>
            <a:rect l="l" t="t" r="r" b="b"/>
            <a:pathLst>
              <a:path w="18732407" h="1445922">
                <a:moveTo>
                  <a:pt x="0" y="0"/>
                </a:moveTo>
                <a:lnTo>
                  <a:pt x="18732407" y="0"/>
                </a:lnTo>
                <a:lnTo>
                  <a:pt x="18732407" y="1445922"/>
                </a:lnTo>
                <a:lnTo>
                  <a:pt x="0" y="1445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213944" b="-112087"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4020456" y="8830959"/>
            <a:ext cx="1424066" cy="220730"/>
          </a:xfrm>
          <a:custGeom>
            <a:avLst/>
            <a:gdLst/>
            <a:ahLst/>
            <a:cxnLst/>
            <a:rect l="l" t="t" r="r" b="b"/>
            <a:pathLst>
              <a:path w="1424066" h="220730">
                <a:moveTo>
                  <a:pt x="0" y="0"/>
                </a:moveTo>
                <a:lnTo>
                  <a:pt x="1424066" y="0"/>
                </a:lnTo>
                <a:lnTo>
                  <a:pt x="1424066" y="220730"/>
                </a:lnTo>
                <a:lnTo>
                  <a:pt x="0" y="220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8991611" y="8815376"/>
            <a:ext cx="1387182" cy="215013"/>
          </a:xfrm>
          <a:custGeom>
            <a:avLst/>
            <a:gdLst/>
            <a:ahLst/>
            <a:cxnLst/>
            <a:rect l="l" t="t" r="r" b="b"/>
            <a:pathLst>
              <a:path w="1387182" h="215013">
                <a:moveTo>
                  <a:pt x="0" y="0"/>
                </a:moveTo>
                <a:lnTo>
                  <a:pt x="1387183" y="0"/>
                </a:lnTo>
                <a:lnTo>
                  <a:pt x="1387183" y="215013"/>
                </a:lnTo>
                <a:lnTo>
                  <a:pt x="0" y="2150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5400000">
            <a:off x="13286754" y="8815376"/>
            <a:ext cx="1387182" cy="215013"/>
          </a:xfrm>
          <a:custGeom>
            <a:avLst/>
            <a:gdLst/>
            <a:ahLst/>
            <a:cxnLst/>
            <a:rect l="l" t="t" r="r" b="b"/>
            <a:pathLst>
              <a:path w="1387182" h="215013">
                <a:moveTo>
                  <a:pt x="0" y="0"/>
                </a:moveTo>
                <a:lnTo>
                  <a:pt x="1387182" y="0"/>
                </a:lnTo>
                <a:lnTo>
                  <a:pt x="1387182" y="215013"/>
                </a:lnTo>
                <a:lnTo>
                  <a:pt x="0" y="2150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434407" y="3457042"/>
            <a:ext cx="1194974" cy="368909"/>
          </a:xfrm>
          <a:custGeom>
            <a:avLst/>
            <a:gdLst/>
            <a:ahLst/>
            <a:cxnLst/>
            <a:rect l="l" t="t" r="r" b="b"/>
            <a:pathLst>
              <a:path w="964227" h="269984">
                <a:moveTo>
                  <a:pt x="0" y="0"/>
                </a:moveTo>
                <a:lnTo>
                  <a:pt x="964227" y="0"/>
                </a:lnTo>
                <a:lnTo>
                  <a:pt x="964227" y="269983"/>
                </a:lnTo>
                <a:lnTo>
                  <a:pt x="0" y="269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74320" y="5440680"/>
            <a:ext cx="4572000" cy="100584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1.Upload Your Agreement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423" y="6818321"/>
            <a:ext cx="452995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Provide your loan document in PDF format.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74962" y="1937408"/>
            <a:ext cx="2653404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Understands your document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80892" y="1937408"/>
            <a:ext cx="2944879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Checks RBI guidelines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0956" y="4417760"/>
            <a:ext cx="2777896" cy="869948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3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Cites every clause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69180" y="5676900"/>
            <a:ext cx="5068570" cy="293370"/>
          </a:xfrm>
          <a:prstGeom prst="rect">
            <a:avLst/>
          </a:prstGeom>
        </p:spPr>
        <p:txBody>
          <a:bodyPr lIns="0" tIns="0" rIns="0" bIns="0" rtlCol="0" anchor="t" wrap="none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2.AI-Powered 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97214" y="6271348"/>
            <a:ext cx="7155106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Our system reads, interprets and analyzes your agreement with regulatory and financial context.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27714" y="5534353"/>
            <a:ext cx="4853153" cy="497839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3. Clear, Cited Answer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79658" y="6185861"/>
            <a:ext cx="5657826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Get a plain-language answer with sources: the exact clause, page, and RBI circular behind it.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6225" y="8178800"/>
            <a:ext cx="4388485" cy="4978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Document-Specific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34000" y="8197850"/>
            <a:ext cx="4175760" cy="4787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Regulatory Context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79903" y="8197939"/>
            <a:ext cx="3307185" cy="497839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Grounded Answers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990320" y="8197850"/>
            <a:ext cx="3840480" cy="58737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ctr">
              <a:lnSpc>
                <a:spcPts val="4060"/>
              </a:lnSpc>
            </a:pPr>
            <a:r>
              <a:rPr lang="en-US" sz="2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Simple Explanations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6423" y="8638627"/>
            <a:ext cx="3832775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Analysis based on our actual agreement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86896" y="8676727"/>
            <a:ext cx="3657104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Checks applicable RBI guidelines.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95823" y="8638627"/>
            <a:ext cx="405989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Every claim is checked before it is shown.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441469" y="8730067"/>
            <a:ext cx="3782186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Complex terms, in plain language.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1668852" y="3485585"/>
            <a:ext cx="456920" cy="340366"/>
          </a:xfrm>
          <a:custGeom>
            <a:avLst/>
            <a:gdLst/>
            <a:ahLst/>
            <a:cxnLst/>
            <a:rect l="l" t="t" r="r" b="b"/>
            <a:pathLst>
              <a:path w="964227" h="269984">
                <a:moveTo>
                  <a:pt x="0" y="0"/>
                </a:moveTo>
                <a:lnTo>
                  <a:pt x="964227" y="0"/>
                </a:lnTo>
                <a:lnTo>
                  <a:pt x="964227" y="269983"/>
                </a:lnTo>
                <a:lnTo>
                  <a:pt x="0" y="269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5581039" y="9625998"/>
            <a:ext cx="8603986" cy="497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426592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Same document. A more informed you.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087852" y="3380956"/>
            <a:ext cx="1873536" cy="4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SS of UI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1BEA200-9017-5DDA-DAAA-1A1FD1AAC40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212" r="1065"/>
          <a:stretch>
            <a:fillRect/>
          </a:stretch>
        </p:blipFill>
        <p:spPr>
          <a:xfrm>
            <a:off x="12185869" y="1583194"/>
            <a:ext cx="5870726" cy="35603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27263" y="1943100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27263" y="384048"/>
            <a:ext cx="12877800" cy="123444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>
              <a:lnSpc>
                <a:spcPts val="6335"/>
              </a:lnSpc>
            </a:pPr>
            <a:r>
              <a:rPr lang="en-US" sz="4000" b="1" spc="150" dirty="0">
                <a:solidFill>
                  <a:srgbClr val="000000"/>
                </a:solidFill>
                <a:latin typeface="ITC Franklin Gothic LT Condensed Semi-Bold" panose="020B0706030502020204"/>
                <a:ea typeface="ITC Franklin Gothic LT Condensed Semi-Bold" panose="020B0706030502020204"/>
                <a:cs typeface="ITC Franklin Gothic LT Condensed Semi-Bold" panose="020B0706030502020204"/>
                <a:sym typeface="ITC Franklin Gothic LT Condensed Semi-Bold" panose="020B0706030502020204"/>
              </a:rPr>
              <a:t>Our USP- Beyond a RAG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965960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FD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03704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Grounded, not generative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98648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Every sentence is checked against its cited clause before being shown. Unsupported claims are removed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D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8272" y="2203704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350008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Applicability-aware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898648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RBI rules are filtered by loan type, lender class and effective date before they are even scored.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54712" y="1965960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EA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10744" y="2203704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10744" y="2350008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Version-aware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10744" y="2898648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A revised agreement is resolved correctly — a clause is only “deleted” if the revision says so, never guessed.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4590288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FD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828031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74336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Honest refusal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5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When there is not enough evidence, FinX says so and offers a human adviser — instead of a confident guess.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590288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D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48272" y="4828031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974336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Coverage-gap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5522975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Flags when a loan predates the regulation being asked about, rather than misapplying a newer rule.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554712" y="4590288"/>
            <a:ext cx="5742432" cy="2331720"/>
          </a:xfrm>
          <a:prstGeom prst="roundRect">
            <a:avLst>
              <a:gd name="adj" fmla="val 4500"/>
            </a:avLst>
          </a:prstGeom>
          <a:solidFill>
            <a:srgbClr val="EA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10744" y="4828031"/>
            <a:ext cx="502920" cy="41148"/>
          </a:xfrm>
          <a:prstGeom prst="rect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10744" y="4974336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Canva Sans Bold"/>
              </a:rPr>
              <a:t>Fails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10744" y="5522975"/>
            <a:ext cx="52303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333333"/>
                </a:solidFill>
                <a:latin typeface="Canva Sans"/>
              </a:rPr>
              <a:t>If the AI service is unreachable, FinX switches automatically to answering from the quoted clauses — visibly, never silently.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67327" y="9873232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5667327" y="7872572"/>
            <a:ext cx="11904345" cy="2071145"/>
            <a:chOff x="0" y="0"/>
            <a:chExt cx="15872460" cy="27615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72461" cy="2761520"/>
            </a:xfrm>
            <a:custGeom>
              <a:avLst/>
              <a:gdLst/>
              <a:ahLst/>
              <a:cxnLst/>
              <a:rect l="l" t="t" r="r" b="b"/>
              <a:pathLst>
                <a:path w="15872461" h="2761520">
                  <a:moveTo>
                    <a:pt x="0" y="0"/>
                  </a:moveTo>
                  <a:lnTo>
                    <a:pt x="15872461" y="0"/>
                  </a:lnTo>
                  <a:lnTo>
                    <a:pt x="15872461" y="2761520"/>
                  </a:lnTo>
                  <a:lnTo>
                    <a:pt x="0" y="276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994" b="-61994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5872460" cy="274247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5"/>
                </a:lnSpc>
              </a:pPr>
              <a:r>
                <a:rPr lang="en-US" sz="6600" b="1" spc="150" dirty="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Technical Architecture &amp; Technology Stack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-76200" y="571500"/>
            <a:ext cx="12836525" cy="7627620"/>
          </a:xfrm>
          <a:custGeom>
            <a:avLst/>
            <a:gdLst/>
            <a:ahLst/>
            <a:cxnLst/>
            <a:rect l="l" t="t" r="r" b="b"/>
            <a:pathLst>
              <a:path w="13559841" h="7627411">
                <a:moveTo>
                  <a:pt x="0" y="0"/>
                </a:moveTo>
                <a:lnTo>
                  <a:pt x="13559841" y="0"/>
                </a:lnTo>
                <a:lnTo>
                  <a:pt x="13559841" y="7627410"/>
                </a:lnTo>
                <a:lnTo>
                  <a:pt x="0" y="7627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369267" y="1070543"/>
            <a:ext cx="6765371" cy="6731544"/>
          </a:xfrm>
          <a:custGeom>
            <a:avLst/>
            <a:gdLst/>
            <a:ahLst/>
            <a:cxnLst/>
            <a:rect l="l" t="t" r="r" b="b"/>
            <a:pathLst>
              <a:path w="6765371" h="6731544">
                <a:moveTo>
                  <a:pt x="0" y="0"/>
                </a:moveTo>
                <a:lnTo>
                  <a:pt x="6765371" y="0"/>
                </a:lnTo>
                <a:lnTo>
                  <a:pt x="6765371" y="6731544"/>
                </a:lnTo>
                <a:lnTo>
                  <a:pt x="0" y="6731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ysDot"/>
            <a:miter/>
          </a:ln>
        </p:spPr>
      </p:sp>
      <p:sp>
        <p:nvSpPr>
          <p:cNvPr id="9" name="Freeform 9"/>
          <p:cNvSpPr/>
          <p:nvPr/>
        </p:nvSpPr>
        <p:spPr>
          <a:xfrm>
            <a:off x="13697020" y="2981852"/>
            <a:ext cx="2424105" cy="1454463"/>
          </a:xfrm>
          <a:custGeom>
            <a:avLst/>
            <a:gdLst/>
            <a:ahLst/>
            <a:cxnLst/>
            <a:rect l="l" t="t" r="r" b="b"/>
            <a:pathLst>
              <a:path w="2424105" h="1454463">
                <a:moveTo>
                  <a:pt x="0" y="0"/>
                </a:moveTo>
                <a:lnTo>
                  <a:pt x="2424104" y="0"/>
                </a:lnTo>
                <a:lnTo>
                  <a:pt x="2424104" y="1454463"/>
                </a:lnTo>
                <a:lnTo>
                  <a:pt x="0" y="14544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736365" y="3528989"/>
            <a:ext cx="1271536" cy="1169813"/>
          </a:xfrm>
          <a:custGeom>
            <a:avLst/>
            <a:gdLst/>
            <a:ahLst/>
            <a:cxnLst/>
            <a:rect l="l" t="t" r="r" b="b"/>
            <a:pathLst>
              <a:path w="1271536" h="1169813">
                <a:moveTo>
                  <a:pt x="0" y="0"/>
                </a:moveTo>
                <a:lnTo>
                  <a:pt x="1271536" y="0"/>
                </a:lnTo>
                <a:lnTo>
                  <a:pt x="1271536" y="1169812"/>
                </a:lnTo>
                <a:lnTo>
                  <a:pt x="0" y="1169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61789" y="6758142"/>
            <a:ext cx="4602864" cy="690430"/>
          </a:xfrm>
          <a:custGeom>
            <a:avLst/>
            <a:gdLst/>
            <a:ahLst/>
            <a:cxnLst/>
            <a:rect l="l" t="t" r="r" b="b"/>
            <a:pathLst>
              <a:path w="4602864" h="690430">
                <a:moveTo>
                  <a:pt x="0" y="0"/>
                </a:moveTo>
                <a:lnTo>
                  <a:pt x="4602864" y="0"/>
                </a:lnTo>
                <a:lnTo>
                  <a:pt x="4602864" y="690429"/>
                </a:lnTo>
                <a:lnTo>
                  <a:pt x="0" y="690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21124" y="1543574"/>
            <a:ext cx="1997375" cy="1985414"/>
          </a:xfrm>
          <a:custGeom>
            <a:avLst/>
            <a:gdLst/>
            <a:ahLst/>
            <a:cxnLst/>
            <a:rect l="l" t="t" r="r" b="b"/>
            <a:pathLst>
              <a:path w="1997375" h="1985414">
                <a:moveTo>
                  <a:pt x="0" y="0"/>
                </a:moveTo>
                <a:lnTo>
                  <a:pt x="1997375" y="0"/>
                </a:lnTo>
                <a:lnTo>
                  <a:pt x="1997375" y="1985415"/>
                </a:lnTo>
                <a:lnTo>
                  <a:pt x="0" y="1985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21124" y="4571804"/>
            <a:ext cx="1712002" cy="1740631"/>
          </a:xfrm>
          <a:custGeom>
            <a:avLst/>
            <a:gdLst/>
            <a:ahLst/>
            <a:cxnLst/>
            <a:rect l="l" t="t" r="r" b="b"/>
            <a:pathLst>
              <a:path w="1712002" h="1740631">
                <a:moveTo>
                  <a:pt x="0" y="0"/>
                </a:moveTo>
                <a:lnTo>
                  <a:pt x="1712002" y="0"/>
                </a:lnTo>
                <a:lnTo>
                  <a:pt x="1712002" y="1740631"/>
                </a:lnTo>
                <a:lnTo>
                  <a:pt x="0" y="17406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7647" y="1028700"/>
            <a:ext cx="3631686" cy="1769417"/>
          </a:xfrm>
          <a:custGeom>
            <a:avLst/>
            <a:gdLst/>
            <a:ahLst/>
            <a:cxnLst/>
            <a:rect l="l" t="t" r="r" b="b"/>
            <a:pathLst>
              <a:path w="3631686" h="1769417">
                <a:moveTo>
                  <a:pt x="0" y="0"/>
                </a:moveTo>
                <a:lnTo>
                  <a:pt x="3631686" y="0"/>
                </a:lnTo>
                <a:lnTo>
                  <a:pt x="3631686" y="1769417"/>
                </a:lnTo>
                <a:lnTo>
                  <a:pt x="0" y="1769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254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460566" y="4743735"/>
            <a:ext cx="1605309" cy="1660890"/>
          </a:xfrm>
          <a:custGeom>
            <a:avLst/>
            <a:gdLst/>
            <a:ahLst/>
            <a:cxnLst/>
            <a:rect l="l" t="t" r="r" b="b"/>
            <a:pathLst>
              <a:path w="1605309" h="1660890">
                <a:moveTo>
                  <a:pt x="0" y="0"/>
                </a:moveTo>
                <a:lnTo>
                  <a:pt x="1605310" y="0"/>
                </a:lnTo>
                <a:lnTo>
                  <a:pt x="1605310" y="1660891"/>
                </a:lnTo>
                <a:lnTo>
                  <a:pt x="0" y="16608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619500" y="4882515"/>
            <a:ext cx="1841066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"/>
            <a:ext cx="1755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B6B"/>
                </a:solidFill>
                <a:latin typeface="Canva Sans"/>
              </a:rPr>
              <a:t>Ingest, retrieve, cite and refuse are built and demoed live. The risk &amp; cost engine ships next; SQLite + NumPy is the tested default, pgvector is implemented but not yet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9443123" y="9472746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533400" y="8039100"/>
            <a:ext cx="16887827" cy="1119583"/>
            <a:chOff x="-12637772" y="0"/>
            <a:chExt cx="22517104" cy="50856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79332" cy="5085614"/>
            </a:xfrm>
            <a:custGeom>
              <a:avLst/>
              <a:gdLst/>
              <a:ahLst/>
              <a:cxnLst/>
              <a:rect l="l" t="t" r="r" b="b"/>
              <a:pathLst>
                <a:path w="9879332" h="5085614">
                  <a:moveTo>
                    <a:pt x="0" y="0"/>
                  </a:moveTo>
                  <a:lnTo>
                    <a:pt x="9879332" y="0"/>
                  </a:lnTo>
                  <a:lnTo>
                    <a:pt x="9879332" y="5085614"/>
                  </a:lnTo>
                  <a:lnTo>
                    <a:pt x="0" y="50856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47" r="-1604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-12637772" y="3922665"/>
              <a:ext cx="22517103" cy="116295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60"/>
                </a:lnSpc>
              </a:pPr>
              <a:r>
                <a:rPr lang="en-US" sz="3200" b="1" spc="150" dirty="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Implementation Roadmap- MVP to Production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D385CE8-3312-6ACF-79ED-03D13F940B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7"/>
          <a:stretch>
            <a:fillRect/>
          </a:stretch>
        </p:blipFill>
        <p:spPr>
          <a:xfrm>
            <a:off x="178501" y="318414"/>
            <a:ext cx="9083234" cy="54863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F78C68-B14B-6B6C-554A-D00BC36B7A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014"/>
          <a:stretch>
            <a:fillRect/>
          </a:stretch>
        </p:blipFill>
        <p:spPr>
          <a:xfrm>
            <a:off x="9323454" y="2400300"/>
            <a:ext cx="8786045" cy="5873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9105" y="1152579"/>
            <a:ext cx="11015167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74417" y="2034596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8" y="1659781"/>
            <a:ext cx="1425904" cy="1425904"/>
          </a:xfrm>
          <a:custGeom>
            <a:avLst/>
            <a:gdLst/>
            <a:ahLst/>
            <a:cxnLst/>
            <a:rect l="l" t="t" r="r" b="b"/>
            <a:pathLst>
              <a:path w="1425904" h="1425904">
                <a:moveTo>
                  <a:pt x="0" y="0"/>
                </a:moveTo>
                <a:lnTo>
                  <a:pt x="1425904" y="0"/>
                </a:lnTo>
                <a:lnTo>
                  <a:pt x="1425904" y="1425904"/>
                </a:lnTo>
                <a:lnTo>
                  <a:pt x="0" y="142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8642926" y="2112986"/>
            <a:ext cx="0" cy="6652568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16635" y="2095500"/>
            <a:ext cx="7102475" cy="529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Increased Financial Awareness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7149" y="2653721"/>
            <a:ext cx="6581902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Help borrowers understand complex agreement in simple terms.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5675" y="3967480"/>
            <a:ext cx="7163435" cy="3663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Greater Trust &amp; Transparency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5900" y="4638675"/>
            <a:ext cx="8247380" cy="1005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Encourages fairer lending practices and responsible borrowing.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0050" y="6022340"/>
            <a:ext cx="6652260" cy="4603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Reduced Financial Risk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7149" y="6707779"/>
            <a:ext cx="6581902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6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Early identification of hidden charges, unfair terms and high-risk clauses.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5920" y="8127492"/>
            <a:ext cx="6659880" cy="3067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Broader Social impact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149" y="8751115"/>
            <a:ext cx="6581902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Empower first-time borrowers and underserved segment with equal access to insights.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0" y="2110105"/>
            <a:ext cx="6698615" cy="598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Wider Document Support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33601" y="2671499"/>
            <a:ext cx="713257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Extend beyond loan agreements to credit cards, insurance, investment and more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06616" y="4590398"/>
            <a:ext cx="7733298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Support regional language for broader inclusivity.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04680" y="4020185"/>
            <a:ext cx="5393690" cy="4400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Multilingual Access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77400" y="5899150"/>
            <a:ext cx="7505065" cy="4425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26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Personalized Financial Assistant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33601" y="6706530"/>
            <a:ext cx="7733298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Proactive alerts, reminders and personalized recommendations.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06616" y="8374433"/>
            <a:ext cx="7733298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Collaboration with financial institutions and regulators for greater adoption.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04680" y="7844790"/>
            <a:ext cx="6655435" cy="3359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Institutional Integration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59608" y="-1799985"/>
            <a:ext cx="13417777" cy="2998065"/>
            <a:chOff x="-39329" y="-825663"/>
            <a:chExt cx="17890370" cy="39974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04091" cy="3148633"/>
            </a:xfrm>
            <a:custGeom>
              <a:avLst/>
              <a:gdLst/>
              <a:ahLst/>
              <a:cxnLst/>
              <a:rect l="l" t="t" r="r" b="b"/>
              <a:pathLst>
                <a:path w="15204091" h="3148633">
                  <a:moveTo>
                    <a:pt x="0" y="0"/>
                  </a:moveTo>
                  <a:lnTo>
                    <a:pt x="15204091" y="0"/>
                  </a:lnTo>
                  <a:lnTo>
                    <a:pt x="15204091" y="3148633"/>
                  </a:lnTo>
                  <a:lnTo>
                    <a:pt x="0" y="3148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5808" r="-44340" b="-8580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-39329" y="-825663"/>
              <a:ext cx="17890370" cy="399742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5"/>
                </a:lnSpc>
              </a:pPr>
              <a:r>
                <a:rPr lang="en-US" sz="3600" b="1" spc="150" dirty="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Expected Impact &amp; Future Scope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27990" y="1270635"/>
            <a:ext cx="2533015" cy="592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u="sng">
                <a:solidFill>
                  <a:srgbClr val="5D7D4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IMPACT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04680" y="1303020"/>
            <a:ext cx="4034790" cy="4184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u="sng">
                <a:solidFill>
                  <a:srgbClr val="5D7D4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FUTURE SCOPE</a:t>
            </a:r>
          </a:p>
        </p:txBody>
      </p:sp>
      <p:sp>
        <p:nvSpPr>
          <p:cNvPr id="27" name="Freeform 27"/>
          <p:cNvSpPr/>
          <p:nvPr/>
        </p:nvSpPr>
        <p:spPr>
          <a:xfrm>
            <a:off x="427832" y="3971273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74417" y="6014385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74417" y="8168871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166801" y="2112986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166801" y="416704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166801" y="6005690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166801" y="7879354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0" y="0"/>
                </a:moveTo>
                <a:lnTo>
                  <a:pt x="676275" y="0"/>
                </a:lnTo>
                <a:lnTo>
                  <a:pt x="6762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8744361" y="1744707"/>
            <a:ext cx="1425904" cy="1425904"/>
          </a:xfrm>
          <a:custGeom>
            <a:avLst/>
            <a:gdLst/>
            <a:ahLst/>
            <a:cxnLst/>
            <a:rect l="l" t="t" r="r" b="b"/>
            <a:pathLst>
              <a:path w="1425904" h="1425904">
                <a:moveTo>
                  <a:pt x="0" y="0"/>
                </a:moveTo>
                <a:lnTo>
                  <a:pt x="1425904" y="0"/>
                </a:lnTo>
                <a:lnTo>
                  <a:pt x="1425904" y="1425904"/>
                </a:lnTo>
                <a:lnTo>
                  <a:pt x="0" y="142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99748" y="4011913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94149" y="6046330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4149" y="8207802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6801" y="7947130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66801" y="6046330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66801" y="4172445"/>
            <a:ext cx="6762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39133" y="0"/>
            <a:ext cx="9148867" cy="9148867"/>
          </a:xfrm>
          <a:custGeom>
            <a:avLst/>
            <a:gdLst/>
            <a:ahLst/>
            <a:cxnLst/>
            <a:rect l="l" t="t" r="r" b="b"/>
            <a:pathLst>
              <a:path w="9148867" h="9148867">
                <a:moveTo>
                  <a:pt x="0" y="0"/>
                </a:moveTo>
                <a:lnTo>
                  <a:pt x="9148867" y="0"/>
                </a:lnTo>
                <a:lnTo>
                  <a:pt x="9148867" y="9148867"/>
                </a:lnTo>
                <a:lnTo>
                  <a:pt x="0" y="9148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13473" y="5928303"/>
            <a:ext cx="3356543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91540" y="617220"/>
            <a:ext cx="8229600" cy="4937760"/>
            <a:chOff x="0" y="0"/>
            <a:chExt cx="10972800" cy="6583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583680"/>
            </a:xfrm>
            <a:custGeom>
              <a:avLst/>
              <a:gdLst/>
              <a:ahLst/>
              <a:cxnLst/>
              <a:rect l="l" t="t" r="r" b="b"/>
              <a:pathLst>
                <a:path w="10972800" h="658368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0972800" cy="655510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8640"/>
                </a:lnSpc>
              </a:pPr>
              <a:r>
                <a:rPr lang="en-US" sz="9000" b="1" spc="150">
                  <a:solidFill>
                    <a:srgbClr val="000000"/>
                  </a:solidFill>
                  <a:latin typeface="ITC Franklin Gothic LT Condensed Semi-Bold" panose="020B0706030502020204"/>
                  <a:ea typeface="ITC Franklin Gothic LT Condensed Semi-Bold" panose="020B0706030502020204"/>
                  <a:cs typeface="ITC Franklin Gothic LT Condensed Semi-Bold" panose="020B0706030502020204"/>
                  <a:sym typeface="ITC Franklin Gothic LT Condensed Semi-Bold" panose="020B0706030502020204"/>
                </a:rPr>
                <a:t>Thank you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13473" y="6653295"/>
            <a:ext cx="8229600" cy="154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3600" b="1">
                <a:solidFill>
                  <a:srgbClr val="5D7D40"/>
                </a:solidFill>
                <a:latin typeface="ITC Franklin Gothic LT Semi-Bold" panose="020B0704030502020204"/>
                <a:ea typeface="ITC Franklin Gothic LT Semi-Bold" panose="020B0704030502020204"/>
                <a:cs typeface="ITC Franklin Gothic LT Semi-Bold" panose="020B0704030502020204"/>
                <a:sym typeface="ITC Franklin Gothic LT Semi-Bold" panose="020B0704030502020204"/>
              </a:rPr>
              <a:t>Team Members</a:t>
            </a:r>
          </a:p>
          <a:p>
            <a:pPr algn="l">
              <a:lnSpc>
                <a:spcPts val="3890"/>
              </a:lnSpc>
            </a:pPr>
            <a:endParaRPr lang="en-US" sz="3600" b="1">
              <a:solidFill>
                <a:srgbClr val="5D7D40"/>
              </a:solidFill>
              <a:latin typeface="ITC Franklin Gothic LT Semi-Bold" panose="020B0704030502020204"/>
              <a:ea typeface="ITC Franklin Gothic LT Semi-Bold" panose="020B0704030502020204"/>
              <a:cs typeface="ITC Franklin Gothic LT Semi-Bold" panose="020B0704030502020204"/>
              <a:sym typeface="ITC Franklin Gothic LT Semi-Bold" panose="020B0704030502020204"/>
            </a:endParaRPr>
          </a:p>
          <a:p>
            <a:pPr algn="l">
              <a:lnSpc>
                <a:spcPts val="3890"/>
              </a:lnSpc>
            </a:pPr>
            <a:r>
              <a:rPr lang="en-US" sz="3600" b="1">
                <a:solidFill>
                  <a:srgbClr val="5D7D40"/>
                </a:solidFill>
                <a:latin typeface="ITC Franklin Gothic LT Semi-Bold" panose="020B0704030502020204"/>
                <a:ea typeface="ITC Franklin Gothic LT Semi-Bold" panose="020B0704030502020204"/>
                <a:cs typeface="ITC Franklin Gothic LT Semi-Bold" panose="020B0704030502020204"/>
                <a:sym typeface="ITC Franklin Gothic LT Semi-Bold" panose="020B0704030502020204"/>
              </a:rPr>
              <a:t>Vishvesh Sharma   .  Marhama Shaikh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495</Words>
  <Application>Microsoft Office PowerPoint</Application>
  <PresentationFormat>Custom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Canva Sans Bold</vt:lpstr>
      <vt:lpstr>Arial</vt:lpstr>
      <vt:lpstr>ITC Franklin Gothic LT Condensed Semi-Bold</vt:lpstr>
      <vt:lpstr>Calibri</vt:lpstr>
      <vt:lpstr>Canva Sans</vt:lpstr>
      <vt:lpstr>ITC Franklin Gothic LT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FinX – Loan Agreement Intelligence - headings.pptx</dc:title>
  <dc:creator/>
  <cp:lastModifiedBy>Vishvesh Sharma</cp:lastModifiedBy>
  <cp:revision>6</cp:revision>
  <dcterms:created xsi:type="dcterms:W3CDTF">2006-08-16T00:00:00Z</dcterms:created>
  <dcterms:modified xsi:type="dcterms:W3CDTF">2026-09-15T17:33:11Z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F9F88E169A3C4AD295E7FCEA75A6361D_13</vt:lpwstr>
  </property>
</Properties>
</file>